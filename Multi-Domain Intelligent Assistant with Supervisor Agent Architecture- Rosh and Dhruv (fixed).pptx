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8DA681-2297-AAA0-D5CD-4EC5988B84C8}" v="21" dt="2026-04-25T23:13:44.327"/>
    <p1510:client id="{43DF61A8-9E86-CC40-8953-3134FF9FBDB3}" v="4" dt="2026-04-25T23:10:47.47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thoth Sreedharan, Rosh" userId="S::rxc5713@psu.edu::8d883906-a80c-4002-83da-2b38ff2a08cc" providerId="AD" clId="Web-{228DA681-2297-AAA0-D5CD-4EC5988B84C8}"/>
    <pc:docChg chg="modSld">
      <pc:chgData name="Chathoth Sreedharan, Rosh" userId="S::rxc5713@psu.edu::8d883906-a80c-4002-83da-2b38ff2a08cc" providerId="AD" clId="Web-{228DA681-2297-AAA0-D5CD-4EC5988B84C8}" dt="2026-04-25T23:13:44.327" v="25" actId="20577"/>
      <pc:docMkLst>
        <pc:docMk/>
      </pc:docMkLst>
      <pc:sldChg chg="modSp">
        <pc:chgData name="Chathoth Sreedharan, Rosh" userId="S::rxc5713@psu.edu::8d883906-a80c-4002-83da-2b38ff2a08cc" providerId="AD" clId="Web-{228DA681-2297-AAA0-D5CD-4EC5988B84C8}" dt="2026-04-25T23:13:44.327" v="25" actId="20577"/>
        <pc:sldMkLst>
          <pc:docMk/>
          <pc:sldMk cId="0" sldId="258"/>
        </pc:sldMkLst>
        <pc:spChg chg="mod">
          <ac:chgData name="Chathoth Sreedharan, Rosh" userId="S::rxc5713@psu.edu::8d883906-a80c-4002-83da-2b38ff2a08cc" providerId="AD" clId="Web-{228DA681-2297-AAA0-D5CD-4EC5988B84C8}" dt="2026-04-25T23:13:44.327" v="25" actId="20577"/>
          <ac:spMkLst>
            <pc:docMk/>
            <pc:sldMk cId="0" sldId="258"/>
            <ac:spMk id="45" creationId="{00000000-0000-0000-0000-000000000000}"/>
          </ac:spMkLst>
        </pc:spChg>
      </pc:sldChg>
    </pc:docChg>
  </pc:docChgLst>
  <pc:docChgLst>
    <pc:chgData name="Chathoth Sreedharan, Rosh" userId="8d883906-a80c-4002-83da-2b38ff2a08cc" providerId="ADAL" clId="{AEB12F41-3F62-5A51-AB93-C75FDADA2D85}"/>
    <pc:docChg chg="custSel modSld">
      <pc:chgData name="Chathoth Sreedharan, Rosh" userId="8d883906-a80c-4002-83da-2b38ff2a08cc" providerId="ADAL" clId="{AEB12F41-3F62-5A51-AB93-C75FDADA2D85}" dt="2026-04-25T23:10:47.475" v="4" actId="27636"/>
      <pc:docMkLst>
        <pc:docMk/>
      </pc:docMkLst>
      <pc:sldChg chg="modSp mod">
        <pc:chgData name="Chathoth Sreedharan, Rosh" userId="8d883906-a80c-4002-83da-2b38ff2a08cc" providerId="ADAL" clId="{AEB12F41-3F62-5A51-AB93-C75FDADA2D85}" dt="2026-04-25T23:10:47.343" v="1" actId="27636"/>
        <pc:sldMkLst>
          <pc:docMk/>
          <pc:sldMk cId="0" sldId="259"/>
        </pc:sldMkLst>
        <pc:spChg chg="mod">
          <ac:chgData name="Chathoth Sreedharan, Rosh" userId="8d883906-a80c-4002-83da-2b38ff2a08cc" providerId="ADAL" clId="{AEB12F41-3F62-5A51-AB93-C75FDADA2D85}" dt="2026-04-25T23:10:47.343" v="1" actId="27636"/>
          <ac:spMkLst>
            <pc:docMk/>
            <pc:sldMk cId="0" sldId="259"/>
            <ac:spMk id="49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5T23:10:47.440" v="2" actId="27636"/>
        <pc:sldMkLst>
          <pc:docMk/>
          <pc:sldMk cId="0" sldId="263"/>
        </pc:sldMkLst>
        <pc:spChg chg="mod">
          <ac:chgData name="Chathoth Sreedharan, Rosh" userId="8d883906-a80c-4002-83da-2b38ff2a08cc" providerId="ADAL" clId="{AEB12F41-3F62-5A51-AB93-C75FDADA2D85}" dt="2026-04-25T23:10:47.440" v="2" actId="27636"/>
          <ac:spMkLst>
            <pc:docMk/>
            <pc:sldMk cId="0" sldId="263"/>
            <ac:spMk id="65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5T23:10:47.457" v="3" actId="27636"/>
        <pc:sldMkLst>
          <pc:docMk/>
          <pc:sldMk cId="0" sldId="265"/>
        </pc:sldMkLst>
        <pc:spChg chg="mod">
          <ac:chgData name="Chathoth Sreedharan, Rosh" userId="8d883906-a80c-4002-83da-2b38ff2a08cc" providerId="ADAL" clId="{AEB12F41-3F62-5A51-AB93-C75FDADA2D85}" dt="2026-04-25T23:10:47.457" v="3" actId="27636"/>
          <ac:spMkLst>
            <pc:docMk/>
            <pc:sldMk cId="0" sldId="265"/>
            <ac:spMk id="73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5T23:10:47.475" v="4" actId="27636"/>
        <pc:sldMkLst>
          <pc:docMk/>
          <pc:sldMk cId="0" sldId="267"/>
        </pc:sldMkLst>
        <pc:spChg chg="mod">
          <ac:chgData name="Chathoth Sreedharan, Rosh" userId="8d883906-a80c-4002-83da-2b38ff2a08cc" providerId="ADAL" clId="{AEB12F41-3F62-5A51-AB93-C75FDADA2D85}" dt="2026-04-25T23:10:47.475" v="4" actId="27636"/>
          <ac:spMkLst>
            <pc:docMk/>
            <pc:sldMk cId="0" sldId="267"/>
            <ac:spMk id="81" creationId="{00000000-0000-0000-0000-000000000000}"/>
          </ac:spMkLst>
        </pc:spChg>
      </pc:sldChg>
      <pc:sldChg chg="modSp mod">
        <pc:chgData name="Chathoth Sreedharan, Rosh" userId="8d883906-a80c-4002-83da-2b38ff2a08cc" providerId="ADAL" clId="{AEB12F41-3F62-5A51-AB93-C75FDADA2D85}" dt="2026-04-23T23:59:48.932" v="0" actId="400"/>
        <pc:sldMkLst>
          <pc:docMk/>
          <pc:sldMk cId="0" sldId="268"/>
        </pc:sldMkLst>
        <pc:spChg chg="mod">
          <ac:chgData name="Chathoth Sreedharan, Rosh" userId="8d883906-a80c-4002-83da-2b38ff2a08cc" providerId="ADAL" clId="{AEB12F41-3F62-5A51-AB93-C75FDADA2D85}" dt="2026-04-23T23:59:48.932" v="0" actId="400"/>
          <ac:spMkLst>
            <pc:docMk/>
            <pc:sldMk cId="0" sldId="268"/>
            <ac:spMk id="85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3" name="Shape 33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9" descr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2690571"/>
            <a:ext cx="9144000" cy="6688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/>
            </a:lvl1pPr>
            <a:lvl2pPr marL="0" indent="457200">
              <a:buSzTx/>
              <a:buFontTx/>
              <a:buNone/>
              <a:defRPr sz="2400"/>
            </a:lvl2pPr>
            <a:lvl3pPr marL="0" indent="914400">
              <a:buSzTx/>
              <a:buFontTx/>
              <a:buNone/>
              <a:defRPr sz="2400"/>
            </a:lvl3pPr>
            <a:lvl4pPr marL="0" indent="1371600">
              <a:buSzTx/>
              <a:buFontTx/>
              <a:buNone/>
              <a:defRPr sz="2400"/>
            </a:lvl4pPr>
            <a:lvl5pPr marL="0" indent="1828800">
              <a:buSzTx/>
              <a:buFontTx/>
              <a:buNone/>
              <a:defRPr sz="2400"/>
            </a:lvl5pPr>
          </a:lstStyle>
          <a:p>
            <a:r>
              <a:t>Click to add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1524000" y="1113183"/>
            <a:ext cx="9144000" cy="1507608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234078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16" name="Rectangle 1"/>
          <p:cNvSpPr/>
          <p:nvPr/>
        </p:nvSpPr>
        <p:spPr>
          <a:xfrm>
            <a:off x="2334409" y="5862918"/>
            <a:ext cx="1602891" cy="4518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lick to add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" y="-2"/>
            <a:ext cx="12192004" cy="685800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026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Click to add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838199" y="1391477"/>
            <a:ext cx="10515600" cy="4785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Rectangle 3"/>
          <p:cNvSpPr/>
          <p:nvPr/>
        </p:nvSpPr>
        <p:spPr>
          <a:xfrm>
            <a:off x="8659906" y="6492875"/>
            <a:ext cx="1000462" cy="2599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solidFill>
            <a:srgbClr val="7E9FC3"/>
          </a:solidFill>
          <a:uFillTx/>
          <a:latin typeface="Franklin Gothic Medium"/>
          <a:ea typeface="Franklin Gothic Medium"/>
          <a:cs typeface="Franklin Gothic Medium"/>
          <a:sym typeface="Franklin Gothic Medium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Franklin Gothic Book"/>
          <a:ea typeface="Franklin Gothic Book"/>
          <a:cs typeface="Franklin Gothic Book"/>
          <a:sym typeface="Franklin Gothic Book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ubtitle 1"/>
          <p:cNvSpPr txBox="1">
            <a:spLocks noGrp="1"/>
          </p:cNvSpPr>
          <p:nvPr>
            <p:ph type="subTitle" sz="quarter" idx="1"/>
          </p:nvPr>
        </p:nvSpPr>
        <p:spPr>
          <a:xfrm>
            <a:off x="1524000" y="2690571"/>
            <a:ext cx="9144000" cy="668856"/>
          </a:xfrm>
          <a:prstGeom prst="rect">
            <a:avLst/>
          </a:prstGeom>
        </p:spPr>
        <p:txBody>
          <a:bodyPr/>
          <a:lstStyle/>
          <a:p>
            <a:pPr defTabSz="658368">
              <a:spcBef>
                <a:spcPts val="700"/>
              </a:spcBef>
              <a:defRPr sz="1728"/>
            </a:pPr>
            <a:r>
              <a:t>Rosh Sreedharan</a:t>
            </a:r>
          </a:p>
          <a:p>
            <a:pPr defTabSz="658368">
              <a:spcBef>
                <a:spcPts val="700"/>
              </a:spcBef>
              <a:defRPr sz="1728"/>
            </a:pPr>
            <a:r>
              <a:t>Dhruv Chaudhry</a:t>
            </a:r>
          </a:p>
        </p:txBody>
      </p:sp>
      <p:sp>
        <p:nvSpPr>
          <p:cNvPr id="36" name="Title 2"/>
          <p:cNvSpPr txBox="1">
            <a:spLocks noGrp="1"/>
          </p:cNvSpPr>
          <p:nvPr>
            <p:ph type="ctrTitle"/>
          </p:nvPr>
        </p:nvSpPr>
        <p:spPr>
          <a:xfrm>
            <a:off x="1524000" y="1113183"/>
            <a:ext cx="9144000" cy="1507608"/>
          </a:xfrm>
          <a:prstGeom prst="rect">
            <a:avLst/>
          </a:prstGeom>
        </p:spPr>
        <p:txBody>
          <a:bodyPr/>
          <a:lstStyle>
            <a:lvl1pPr defTabSz="877823">
              <a:defRPr sz="4224"/>
            </a:lvl1pPr>
          </a:lstStyle>
          <a:p>
            <a:r>
              <a:t>Multi-Domain Intelligent Assistant with Supervisor Agent Architecture</a:t>
            </a:r>
          </a:p>
        </p:txBody>
      </p:sp>
      <p:sp>
        <p:nvSpPr>
          <p:cNvPr id="37" name="Subtitle 1"/>
          <p:cNvSpPr txBox="1"/>
          <p:nvPr/>
        </p:nvSpPr>
        <p:spPr>
          <a:xfrm>
            <a:off x="1569719" y="4568418"/>
            <a:ext cx="5352921" cy="754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 b="1"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Natural Language Processing </a:t>
            </a:r>
            <a:r>
              <a:rPr b="0"/>
              <a:t>(Spring, 2026)</a:t>
            </a:r>
            <a:endParaRPr sz="2400"/>
          </a:p>
          <a:p>
            <a:pPr>
              <a:lnSpc>
                <a:spcPct val="90000"/>
              </a:lnSpc>
              <a:spcBef>
                <a:spcPts val="1000"/>
              </a:spcBef>
              <a:defRPr>
                <a:latin typeface="Franklin Gothic Book"/>
                <a:ea typeface="Franklin Gothic Book"/>
                <a:cs typeface="Franklin Gothic Book"/>
                <a:sym typeface="Franklin Gothic Book"/>
              </a:defRPr>
            </a:pPr>
            <a:r>
              <a:t>     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4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2 min to convince the audience </a:t>
            </a:r>
          </a:p>
        </p:txBody>
      </p:sp>
      <p:sp>
        <p:nvSpPr>
          <p:cNvPr id="4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NLP systems are evolving from simple question answering to multi-step, decision-making assistants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Most current systems rely on monolithic RAG architectures (one model, one knowledge base)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These systems struggle when handling multiple domains simultaneously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Result: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Irrelevant document retrieval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Weak domain understanding</a:t>
            </a:r>
          </a:p>
          <a:p>
            <a:pPr marL="457200" indent="-317500" defTabSz="457200">
              <a:lnSpc>
                <a:spcPct val="100000"/>
              </a:lnSpc>
              <a:spcBef>
                <a:spcPts val="0"/>
              </a:spcBef>
              <a:buFont typeface="Times Roman"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recovery when retrieval fails</a:t>
            </a:r>
          </a:p>
          <a:p>
            <a:pPr marL="0" indent="0" defTabSz="457200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2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As real-world use cases grow, there is a need for more structured, intelligent architectures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sp>
        <p:nvSpPr>
          <p:cNvPr id="4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Context and Introduction</a:t>
            </a:r>
          </a:p>
        </p:txBody>
      </p:sp>
      <p:sp>
        <p:nvSpPr>
          <p:cNvPr id="4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 lIns="45719" tIns="45720" rIns="45719" bIns="45720" anchor="t">
            <a:normAutofit fontScale="92500" lnSpcReduction="10000"/>
          </a:bodyPr>
          <a:lstStyle/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NLP systems are moving beyond simple Q&amp;A into multi-step task execution</a:t>
            </a:r>
            <a:endParaRPr lang="en-US"/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Real-world assistants need to plan, retrieve, reason, and self-correct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 RAG systems usually rely on one model and one shared knowledge base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creates issues when handling very different domains in one system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Our project builds a multi-domain intelligent assistant for: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Industrial troubleshooting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Recipe assistance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Scientific paper summarization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/>
              <a:t>Cross-domain synthesis</a:t>
            </a:r>
          </a:p>
          <a:p>
            <a:pPr marL="631190" lvl="1" indent="-250190" defTabSz="457200">
              <a:lnSpc>
                <a:spcPct val="100000"/>
              </a:lnSpc>
              <a:spcBef>
                <a:spcPts val="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lang="en-US"/>
              <a:t>Web-search fallback</a:t>
            </a:r>
          </a:p>
          <a:p>
            <a:pPr marL="952500" indent="-342900" defTabSz="457200">
              <a:lnSpc>
                <a:spcPct val="100000"/>
              </a:lnSpc>
              <a:spcBef>
                <a:spcPts val="0"/>
              </a:spcBef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endParaRPr lang="en-US"/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 use a supervisor agent to route each query to the right specialist agent</a:t>
            </a:r>
          </a:p>
          <a:p>
            <a:pPr marL="250190" indent="-250190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goal is to test whether this architecture improves accuracy, retrieval quality, and reliability compared to a single general RAG system 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sp>
        <p:nvSpPr>
          <p:cNvPr id="4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Problem and Challenges</a:t>
            </a:r>
          </a:p>
        </p:txBody>
      </p:sp>
      <p:sp>
        <p:nvSpPr>
          <p:cNvPr id="4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 RAG systems use one general pipeline for all queries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causes problems when questions come from different domains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 query can be misunderstood or routed to the wrong type of information</a:t>
            </a:r>
          </a:p>
          <a:p>
            <a:pPr marL="0" indent="0" defTabSz="397763">
              <a:lnSpc>
                <a:spcPct val="100000"/>
              </a:lnSpc>
              <a:buSzTx/>
              <a:buFontTx/>
              <a:buNone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 challenges: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Cross-domain contamination: unrelated documents may be retrieved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Ambiguous queries: one question can fit multiple domains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Domain-specific terminology: fault codes, recipes, and research terms require different handling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Weak retrieval quality: irrelevant documents can lead to poor answers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Hallucination risk: the model may generate unsupported information</a:t>
            </a:r>
          </a:p>
          <a:p>
            <a:pPr marL="397763" indent="-276225" defTabSz="397763">
              <a:lnSpc>
                <a:spcPct val="100000"/>
              </a:lnSpc>
              <a:spcBef>
                <a:spcPts val="0"/>
              </a:spcBef>
              <a:buFont typeface="Times Roman"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Latency: multiple retrieval and correction steps can slow the system</a:t>
            </a:r>
          </a:p>
          <a:p>
            <a:pPr marL="0" indent="0" defTabSz="397763">
              <a:lnSpc>
                <a:spcPct val="100000"/>
              </a:lnSpc>
              <a:buSzTx/>
              <a:buFontTx/>
              <a:buNone/>
              <a:defRPr sz="21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Core problem:</a:t>
            </a:r>
            <a:br/>
            <a:r>
              <a:t>Can a supervisor-based multi-agent RAG system outperform a single monolithic RAG system in accuracy, retrieval quality, hallucination reduction, and task completion?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5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Related solutions / State of Art</a:t>
            </a:r>
          </a:p>
        </p:txBody>
      </p:sp>
      <p:sp>
        <p:nvSpPr>
          <p:cNvPr id="5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Retrieval-Augmented Generation (RAG) improves answers by retrieving external documents before generating a response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However, standard RAG does not correct bad retrievals before answering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Corrective RAG (CRAG) adds a relevance-checking step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If retrieved documents are weak, the system can rewrite the query and retry retrieval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Self-RAG also improves reliability by having the model critique its own output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But it often requires model fine-tuning, while CRAG can work as a plug-in pipeline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Supervisor-based multi-agent systems use a central agent to route tasks to specialized agents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Existing work mainly tests scaling by tools, not by very different knowledge domains</a:t>
            </a:r>
          </a:p>
          <a:p>
            <a:pPr marL="223085" indent="-223085" defTabSz="406908">
              <a:lnSpc>
                <a:spcPct val="100000"/>
              </a:lnSpc>
              <a:spcBef>
                <a:spcPts val="0"/>
              </a:spcBef>
              <a:buFontTx/>
              <a:defRPr sz="22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Our gap:</a:t>
            </a:r>
            <a:br/>
            <a:r>
              <a:rPr sz="1600"/>
              <a:t>- Few systems combine supervisor routing, domain-isolated retrieval, and corrective RAG across multiple domains like industrial troubleshooting, recipes, and scientific papers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5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Overview of Solution / Contributions</a:t>
            </a:r>
          </a:p>
        </p:txBody>
      </p:sp>
      <p:sp>
        <p:nvSpPr>
          <p:cNvPr id="5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We propose a multi-domain intelligent assistant built around a supervisor-agent design</a:t>
            </a:r>
          </a:p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The supervisor agent first identifies the user’s intent and routes the query to the correct specialist</a:t>
            </a:r>
          </a:p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The system includes three domain agents:</a:t>
            </a:r>
          </a:p>
          <a:p>
            <a:pPr marL="425195" indent="-295275" defTabSz="425195">
              <a:lnSpc>
                <a:spcPct val="100000"/>
              </a:lnSpc>
              <a:spcBef>
                <a:spcPts val="0"/>
              </a:spcBef>
              <a:buFont typeface="Times Roman"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Industrial Troubleshooting Agent</a:t>
            </a:r>
          </a:p>
          <a:p>
            <a:pPr marL="425195" indent="-295275" defTabSz="425195">
              <a:lnSpc>
                <a:spcPct val="100000"/>
              </a:lnSpc>
              <a:spcBef>
                <a:spcPts val="0"/>
              </a:spcBef>
              <a:buFont typeface="Times Roman"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Recipe Assistant Agent</a:t>
            </a:r>
          </a:p>
          <a:p>
            <a:pPr marL="425195" indent="-295275" defTabSz="425195">
              <a:lnSpc>
                <a:spcPct val="100000"/>
              </a:lnSpc>
              <a:spcBef>
                <a:spcPts val="0"/>
              </a:spcBef>
              <a:buFont typeface="Times Roman"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Scientific Paper Summarizer Agent</a:t>
            </a:r>
          </a:p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Each agent uses its own domain-specific knowledge base to reduce irrelevant retrieval</a:t>
            </a:r>
          </a:p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A shared Corrective RAG pipeline checks retrieved documents, rewrites weak queries, and retries retrieval before generating an answer</a:t>
            </a:r>
          </a:p>
          <a:p>
            <a:pPr marL="0" indent="0" defTabSz="425195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sz="1600"/>
              <a:t>Main contribution:</a:t>
            </a:r>
            <a:br/>
            <a:r>
              <a:rPr sz="1600"/>
              <a:t>Testing whether this architecture performs better than a single general RAG system in routing accuracy, retrieval precision, hallucination rate, and task completion.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7</a:t>
            </a:fld>
            <a:endParaRPr/>
          </a:p>
        </p:txBody>
      </p:sp>
      <p:sp>
        <p:nvSpPr>
          <p:cNvPr id="6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Data Collecting</a:t>
            </a:r>
          </a:p>
        </p:txBody>
      </p:sp>
      <p:sp>
        <p:nvSpPr>
          <p:cNvPr id="6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project uses data from </a:t>
            </a:r>
            <a:r>
              <a:rPr b="1"/>
              <a:t>three separate domains</a:t>
            </a:r>
            <a:r>
              <a:t> to test multi-domain performance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Industrial troubleshooting:</a:t>
            </a:r>
            <a:br/>
            <a:r>
              <a:t>Rockwell Automation manuals, Logix troubleshooting articles, MaintNorm, and FabNER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Recipe assistance:</a:t>
            </a:r>
            <a:br/>
            <a:r>
              <a:t>Food.com recipe dataset and RecipeNLG dataset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Scientific paper summarization:</a:t>
            </a:r>
            <a:br/>
            <a:r>
              <a:t>ArXiv API for research paper abstracts and metadata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domain has its own data source and knowledge base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allows the system to compare </a:t>
            </a:r>
            <a:r>
              <a:rPr b="1"/>
              <a:t>domain-isolated retrieval</a:t>
            </a:r>
            <a:r>
              <a:t> against a single shared vector store baseline.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  <p:sp>
        <p:nvSpPr>
          <p:cNvPr id="6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Data Preprocessing</a:t>
            </a:r>
          </a:p>
        </p:txBody>
      </p:sp>
      <p:sp>
        <p:nvSpPr>
          <p:cNvPr id="6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domain requires its own preprocessing before retrieval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Industrial data:</a:t>
            </a:r>
            <a:br/>
            <a:r>
              <a:t>Extract fault codes, equipment model numbers, parameter IDs, and technical abbreviations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Recipe data:</a:t>
            </a:r>
            <a:br/>
            <a:r>
              <a:t>Clean ingredients, normalize recipe steps, and organize nutrition/rating fields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Scientific data:</a:t>
            </a:r>
            <a:br/>
            <a:r>
              <a:t>Parse paper titles, abstracts, authors, keywords, and metadata from ArXiv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Documents are then chunked, embedded, and stored in </a:t>
            </a:r>
            <a:r>
              <a:rPr b="1"/>
              <a:t>domain-specific ChromaDB collections</a:t>
            </a:r>
          </a:p>
          <a:p>
            <a:pPr marL="631657" lvl="1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Goal: improve retrieval accuracy by making each knowledge base cleaner, more searchable, and domain-aware.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220004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6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Methodology </a:t>
            </a:r>
          </a:p>
        </p:txBody>
      </p:sp>
      <p:sp>
        <p:nvSpPr>
          <p:cNvPr id="6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The system uses a </a:t>
            </a:r>
            <a:r>
              <a:t>supervisor-based multi-agent architecture</a:t>
            </a:r>
            <a:endParaRPr b="0"/>
          </a:p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User query first goes to the </a:t>
            </a:r>
            <a:r>
              <a:rPr b="1"/>
              <a:t>supervisor agent</a:t>
            </a:r>
          </a:p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supervisor classifies the query into one of three domains: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Industrial troubleshooting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Recipe assistance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Scientific paper summarization</a:t>
            </a:r>
          </a:p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If confidence is high, the query is sent to the correct specialist agent</a:t>
            </a:r>
          </a:p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If confidence is low, the system asks a clarification question instead of guessing</a:t>
            </a:r>
          </a:p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Each specialist agent runs a </a:t>
            </a:r>
            <a:r>
              <a:rPr b="1"/>
              <a:t>Corrective RAG pipeline</a:t>
            </a:r>
            <a:r>
              <a:t>: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Retrieve relevant documents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Grade document relevance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Rewrite the query if retrieval is weak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Retry retrieval</a:t>
            </a:r>
          </a:p>
          <a:p>
            <a:pPr marL="386013" lvl="1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Generate a grounded final response</a:t>
            </a:r>
          </a:p>
          <a:p>
            <a:pPr marL="92643" indent="-92643" defTabSz="352043">
              <a:lnSpc>
                <a:spcPct val="100000"/>
              </a:lnSpc>
              <a:spcBef>
                <a:spcPts val="0"/>
              </a:spcBef>
              <a:buFontTx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This method tests whether </a:t>
            </a:r>
            <a:r>
              <a:rPr b="1"/>
              <a:t>routing + domain isolation + correction</a:t>
            </a:r>
            <a:r>
              <a:t> improves performance over a single RAG system.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7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Models selection and parameters</a:t>
            </a:r>
          </a:p>
        </p:txBody>
      </p:sp>
      <p:sp>
        <p:nvSpPr>
          <p:cNvPr id="7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521306" y="1408156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LLM:</a:t>
            </a:r>
            <a:r>
              <a:t> Gemma 2 9B Instruct for routing, grading, query rewriting, and response generation</a:t>
            </a:r>
          </a:p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Embedding model:</a:t>
            </a:r>
            <a:r>
              <a:t> GTE-Large with 1024-dimensional vectors for semantic search</a:t>
            </a:r>
          </a:p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Vector database:</a:t>
            </a:r>
            <a:r>
              <a:t> ChromaDB with separate collections for each domain</a:t>
            </a:r>
          </a:p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Normalization:</a:t>
            </a:r>
            <a:endParaRPr b="0"/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Clean text formatting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Normalize technical terms, recipe fields, and paper metadata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Standardize embeddings for consistent similarity search</a:t>
            </a:r>
          </a:p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Regularization:</a:t>
            </a:r>
            <a:endParaRPr b="0"/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model fine-tuning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Reliability controlled through retrieval grading, domain prompts, and source grounding</a:t>
            </a:r>
          </a:p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augmentation:</a:t>
            </a:r>
            <a:endParaRPr b="0"/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Query rewriting through CRAG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Domain-specific synonym expansion and terminology expansion</a:t>
            </a:r>
          </a:p>
          <a:p>
            <a:pPr marL="0" indent="0" defTabSz="324611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77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Tuning:</a:t>
            </a:r>
            <a:endParaRPr b="0"/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Confidence threshold for supervisor routing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Top-k retrieval settings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Maximum of two query rewrite attempts</a:t>
            </a:r>
          </a:p>
          <a:p>
            <a:pPr marL="324611" indent="-225425" defTabSz="324611">
              <a:lnSpc>
                <a:spcPct val="100000"/>
              </a:lnSpc>
              <a:spcBef>
                <a:spcPts val="0"/>
              </a:spcBef>
              <a:buFont typeface="Times Roman"/>
              <a:defRPr sz="177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Prompt tuning for each specialist agent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7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Network Training – validation - testing </a:t>
            </a:r>
          </a:p>
        </p:txBody>
      </p:sp>
      <p:sp>
        <p:nvSpPr>
          <p:cNvPr id="7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 This project does not use traditional model training</a:t>
            </a:r>
          </a:p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- The main focus is testing the architecture, not fine-tuning the LLM</a:t>
            </a:r>
          </a:p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Training setup:</a:t>
            </a:r>
            <a:endParaRPr b="0"/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Build domain-specific vector stores</a:t>
            </a:r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Create supervisor prompts and specialist prompts</a:t>
            </a:r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Prepare CRAG retrieval and query-rewrite pipeline</a:t>
            </a:r>
          </a:p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Validation:</a:t>
            </a:r>
            <a:endParaRPr b="0"/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 routing confidence threshold</a:t>
            </a:r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Check retrieval quality from each domain database</a:t>
            </a:r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Adjust prompts, top-k retrieval, and rewrite attempts</a:t>
            </a:r>
          </a:p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Testing:</a:t>
            </a:r>
            <a:endParaRPr b="0"/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Use </a:t>
            </a:r>
            <a:r>
              <a:t>150 evaluation queries</a:t>
            </a:r>
            <a:r>
              <a:rPr b="0"/>
              <a:t> total</a:t>
            </a:r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50 queries per domain:</a:t>
            </a:r>
            <a:r>
              <a:t> industrial, recipe, scientific</a:t>
            </a:r>
          </a:p>
          <a:p>
            <a:pPr marL="352043" indent="-244475" defTabSz="352043">
              <a:lnSpc>
                <a:spcPct val="100000"/>
              </a:lnSpc>
              <a:spcBef>
                <a:spcPts val="0"/>
              </a:spcBef>
              <a:buFont typeface="Times Roman"/>
              <a:defRPr sz="19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Compare multi-agent system against a single monolithic RAG baseline</a:t>
            </a:r>
          </a:p>
          <a:p>
            <a:pPr marL="0" indent="0" defTabSz="352043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925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0"/>
              <a:t>Goal: measure whether the system improves </a:t>
            </a:r>
            <a:r>
              <a:t>routing accuracy, retrieval precision, hallucination rate, and task completion</a:t>
            </a:r>
            <a:r>
              <a:rPr b="0"/>
              <a:t>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8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>
            <a:lvl1pPr defTabSz="886968">
              <a:defRPr sz="4268"/>
            </a:lvl1pPr>
          </a:lstStyle>
          <a:p>
            <a:r>
              <a:t>Evaluations – Performance – comparing </a:t>
            </a:r>
          </a:p>
        </p:txBody>
      </p:sp>
      <p:sp>
        <p:nvSpPr>
          <p:cNvPr id="8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0" indent="0" defTabSz="301752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The system is evaluated against a monolithic RAG baseline</a:t>
            </a:r>
          </a:p>
          <a:p>
            <a:pPr marL="0" indent="0" defTabSz="301752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65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Baseline system:</a:t>
            </a:r>
            <a:endParaRPr b="0"/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Same LLM: Gemma 2 9B Instruct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Same embedding model: GTE-Large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One shared </a:t>
            </a:r>
            <a:r>
              <a:rPr err="1"/>
              <a:t>ChromaDB</a:t>
            </a:r>
            <a:r>
              <a:t> vector store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supervisor routing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No corrective retrieval loop</a:t>
            </a:r>
          </a:p>
          <a:p>
            <a:pPr marL="0" indent="0" defTabSz="301752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65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Evaluation dataset:</a:t>
            </a:r>
            <a:endParaRPr b="0"/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150 total test queries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50 per domain: industrial, recipe, scientific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Includes routine, ambiguous, and adversarial questions</a:t>
            </a:r>
          </a:p>
          <a:p>
            <a:pPr marL="0" indent="0" defTabSz="301752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650" b="1"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Performance metrics:</a:t>
            </a:r>
            <a:endParaRPr b="0"/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Routing Accuracy:</a:t>
            </a:r>
            <a:r>
              <a:t> checks if the supervisor sends queries to the correct agent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Precision@5:</a:t>
            </a:r>
            <a:r>
              <a:t> measures relevance of the top retrieved documents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Hallucination Rate:</a:t>
            </a:r>
            <a:r>
              <a:t> measures unsupported or fabricated claims</a:t>
            </a:r>
          </a:p>
          <a:p>
            <a:pPr marL="301752" indent="-209550" defTabSz="301752">
              <a:lnSpc>
                <a:spcPct val="100000"/>
              </a:lnSpc>
              <a:spcBef>
                <a:spcPts val="0"/>
              </a:spcBef>
              <a:buFont typeface="Times Roman"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Task Completion Rate:</a:t>
            </a:r>
            <a:r>
              <a:t> measures whether the system gives a useful grounded answer</a:t>
            </a:r>
          </a:p>
          <a:p>
            <a:pPr marL="0" indent="0" defTabSz="301752">
              <a:lnSpc>
                <a:spcPct val="100000"/>
              </a:lnSpc>
              <a:spcBef>
                <a:spcPts val="0"/>
              </a:spcBef>
              <a:buSzTx/>
              <a:buFontTx/>
              <a:buNone/>
              <a:defRPr sz="165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Main comparison:</a:t>
            </a:r>
            <a:br>
              <a:rPr/>
            </a:br>
            <a:r>
              <a:t>Tests whether supervisor routing, domain-isolated retrieval, and CRAG improve reliability over a single general RAG pipeline.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8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Outcomes/finding</a:t>
            </a:r>
          </a:p>
        </p:txBody>
      </p:sp>
      <p:sp>
        <p:nvSpPr>
          <p:cNvPr id="8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/>
              <a:t>Expected to outperform the single monolithic RAG baseline</a:t>
            </a:r>
          </a:p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Higher routing accuracy because the supervisor sends queries to the correct domain agent</a:t>
            </a:r>
          </a:p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Better retrieval precision because each domain has its own isolated knowledge base</a:t>
            </a:r>
          </a:p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Lower hallucination rate because CRAG checks retrieved documents before generating answers</a:t>
            </a:r>
          </a:p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Higher task completion rate because weak retrievals can be rewritten and retried</a:t>
            </a:r>
          </a:p>
          <a:p>
            <a:pPr marL="250657" indent="-250657" defTabSz="457200">
              <a:lnSpc>
                <a:spcPct val="100000"/>
              </a:lnSpc>
              <a:spcBef>
                <a:spcPts val="0"/>
              </a:spcBef>
              <a:buFontTx/>
              <a:defRPr sz="25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 expected finding:</a:t>
            </a:r>
            <a:br>
              <a:rPr/>
            </a:br>
            <a:r>
              <a:t>Domain specialization + corrective retrieval leads to more reliable NLP responses across different types of queries.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88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Lessons learned and Perspectives </a:t>
            </a:r>
          </a:p>
        </p:txBody>
      </p:sp>
      <p:sp>
        <p:nvSpPr>
          <p:cNvPr id="89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Multi-domain NLP systems need more than a strong language model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Architecture matters:</a:t>
            </a:r>
            <a:r>
              <a:t> routing, domain separation, and retrieval correction can improve reliability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Domain-specific preprocessing helps the system better understand technical terms, recipe details, and research metadata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CRAG adds value by reducing weak retrieval and unsupported responses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Main tradeoff:</a:t>
            </a:r>
            <a:br>
              <a:rPr/>
            </a:br>
            <a:r>
              <a:t>More correction steps can improve accuracy but may increase response time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Future improvements: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Add more domains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Optimize latency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Improve routing confidence thresholds</a:t>
            </a:r>
          </a:p>
          <a:p>
            <a:pPr marL="233111" indent="-233111" defTabSz="425195">
              <a:lnSpc>
                <a:spcPct val="100000"/>
              </a:lnSpc>
              <a:spcBef>
                <a:spcPts val="0"/>
              </a:spcBef>
              <a:buFontTx/>
              <a:defRPr sz="2325">
                <a:latin typeface="Times Roman"/>
                <a:ea typeface="Times Roman"/>
                <a:cs typeface="Times Roman"/>
                <a:sym typeface="Times Roman"/>
              </a:defRPr>
            </a:pPr>
            <a:r>
              <a:t>Expand evaluation with more real-world queries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t>15</a:t>
            </a:fld>
            <a:endParaRPr/>
          </a:p>
        </p:txBody>
      </p:sp>
      <p:sp>
        <p:nvSpPr>
          <p:cNvPr id="92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Bibliographical References</a:t>
            </a:r>
          </a:p>
        </p:txBody>
      </p:sp>
      <p:sp>
        <p:nvSpPr>
          <p:cNvPr id="9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4"/>
          <p:cNvSpPr txBox="1">
            <a:spLocks noGrp="1"/>
          </p:cNvSpPr>
          <p:nvPr>
            <p:ph type="sldNum" sz="quarter" idx="2"/>
          </p:nvPr>
        </p:nvSpPr>
        <p:spPr>
          <a:xfrm>
            <a:off x="11625943" y="6383515"/>
            <a:ext cx="335867" cy="333088"/>
          </a:xfrm>
          <a:prstGeom prst="rect">
            <a:avLst/>
          </a:prstGeom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96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26352"/>
          </a:xfrm>
          <a:prstGeom prst="rect">
            <a:avLst/>
          </a:prstGeom>
        </p:spPr>
        <p:txBody>
          <a:bodyPr/>
          <a:lstStyle/>
          <a:p>
            <a:r>
              <a:t>Demo !</a:t>
            </a:r>
          </a:p>
        </p:txBody>
      </p:sp>
      <p:sp>
        <p:nvSpPr>
          <p:cNvPr id="97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8" y="1391477"/>
            <a:ext cx="10515601" cy="478548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3058C49D50A4BBDFBF11EB30703B5" ma:contentTypeVersion="3" ma:contentTypeDescription="Create a new document." ma:contentTypeScope="" ma:versionID="013d2ecbb6d56fb10bec30eb272170cd">
  <xsd:schema xmlns:xsd="http://www.w3.org/2001/XMLSchema" xmlns:xs="http://www.w3.org/2001/XMLSchema" xmlns:p="http://schemas.microsoft.com/office/2006/metadata/properties" xmlns:ns2="9873a98d-35a7-4307-bac7-650841bde400" targetNamespace="http://schemas.microsoft.com/office/2006/metadata/properties" ma:root="true" ma:fieldsID="11e5caff0585493577b0f047ea0cc2e8" ns2:_="">
    <xsd:import namespace="9873a98d-35a7-4307-bac7-650841bde40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73a98d-35a7-4307-bac7-650841bde40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71661A-75AC-499B-8B60-01ABE931814A}">
  <ds:schemaRefs>
    <ds:schemaRef ds:uri="9873a98d-35a7-4307-bac7-650841bde4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A7F21AE-0A48-4E03-9E02-9A0046BBAD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986727-BC6C-45B3-8F89-3715996CD01B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Multi-Domain Intelligent Assistant with Supervisor Agent Architecture</vt:lpstr>
      <vt:lpstr>2 min to convince the audience </vt:lpstr>
      <vt:lpstr>Context and Introduction</vt:lpstr>
      <vt:lpstr>Problem and Challenges</vt:lpstr>
      <vt:lpstr>Related solutions / State of Art</vt:lpstr>
      <vt:lpstr>Overview of Solution / Contributions</vt:lpstr>
      <vt:lpstr>Data Collecting</vt:lpstr>
      <vt:lpstr>Data Preprocessing</vt:lpstr>
      <vt:lpstr>Methodology </vt:lpstr>
      <vt:lpstr>Models selection and parameters</vt:lpstr>
      <vt:lpstr>Network Training – validation - testing </vt:lpstr>
      <vt:lpstr>Evaluations – Performance – comparing </vt:lpstr>
      <vt:lpstr>Outcomes/finding</vt:lpstr>
      <vt:lpstr>Lessons learned and Perspectives </vt:lpstr>
      <vt:lpstr>Bibliographical References</vt:lpstr>
      <vt:lpstr>Demo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2026-04-25T23:14:12Z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0x0101006F93058C49D50A4BBDFBF11EB30703B5</vt:lpwstr>
  </property>
</Properties>
</file>