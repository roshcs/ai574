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DA681-2297-AAA0-D5CD-4EC5988B84C8}" v="21" dt="2026-04-25T23:13:44.327"/>
    <p1510:client id="{43DF61A8-9E86-CC40-8953-3134FF9FBDB3}" v="4" dt="2026-04-25T23:10:47.4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thoth Sreedharan, Rosh" userId="S::rxc5713@psu.edu::8d883906-a80c-4002-83da-2b38ff2a08cc" providerId="AD" clId="Web-{228DA681-2297-AAA0-D5CD-4EC5988B84C8}"/>
    <pc:docChg chg="modSld">
      <pc:chgData name="Chathoth Sreedharan, Rosh" userId="S::rxc5713@psu.edu::8d883906-a80c-4002-83da-2b38ff2a08cc" providerId="AD" clId="Web-{228DA681-2297-AAA0-D5CD-4EC5988B84C8}" dt="2026-04-25T23:13:44.327" v="25" actId="20577"/>
      <pc:docMkLst>
        <pc:docMk/>
      </pc:docMkLst>
      <pc:sldChg chg="modSp">
        <pc:chgData name="Chathoth Sreedharan, Rosh" userId="S::rxc5713@psu.edu::8d883906-a80c-4002-83da-2b38ff2a08cc" providerId="AD" clId="Web-{228DA681-2297-AAA0-D5CD-4EC5988B84C8}" dt="2026-04-25T23:13:44.327" v="25" actId="20577"/>
        <pc:sldMkLst>
          <pc:docMk/>
          <pc:sldMk cId="0" sldId="258"/>
        </pc:sldMkLst>
        <pc:spChg chg="mod">
          <ac:chgData name="Chathoth Sreedharan, Rosh" userId="S::rxc5713@psu.edu::8d883906-a80c-4002-83da-2b38ff2a08cc" providerId="AD" clId="Web-{228DA681-2297-AAA0-D5CD-4EC5988B84C8}" dt="2026-04-25T23:13:44.327" v="25" actId="20577"/>
          <ac:spMkLst>
            <pc:docMk/>
            <pc:sldMk cId="0" sldId="258"/>
            <ac:spMk id="45" creationId="{00000000-0000-0000-0000-000000000000}"/>
          </ac:spMkLst>
        </pc:spChg>
      </pc:sldChg>
    </pc:docChg>
  </pc:docChgLst>
  <pc:docChgLst>
    <pc:chgData name="Chathoth Sreedharan, Rosh" userId="8d883906-a80c-4002-83da-2b38ff2a08cc" providerId="ADAL" clId="{AEB12F41-3F62-5A51-AB93-C75FDADA2D85}"/>
    <pc:docChg chg="custSel modSld">
      <pc:chgData name="Chathoth Sreedharan, Rosh" userId="8d883906-a80c-4002-83da-2b38ff2a08cc" providerId="ADAL" clId="{AEB12F41-3F62-5A51-AB93-C75FDADA2D85}" dt="2026-04-25T23:10:47.475" v="4" actId="27636"/>
      <pc:docMkLst>
        <pc:docMk/>
      </pc:docMkLst>
      <pc:sldChg chg="modSp mod">
        <pc:chgData name="Chathoth Sreedharan, Rosh" userId="8d883906-a80c-4002-83da-2b38ff2a08cc" providerId="ADAL" clId="{AEB12F41-3F62-5A51-AB93-C75FDADA2D85}" dt="2026-04-25T23:10:47.343" v="1" actId="27636"/>
        <pc:sldMkLst>
          <pc:docMk/>
          <pc:sldMk cId="0" sldId="259"/>
        </pc:sldMkLst>
        <pc:spChg chg="mod">
          <ac:chgData name="Chathoth Sreedharan, Rosh" userId="8d883906-a80c-4002-83da-2b38ff2a08cc" providerId="ADAL" clId="{AEB12F41-3F62-5A51-AB93-C75FDADA2D85}" dt="2026-04-25T23:10:47.343" v="1" actId="27636"/>
          <ac:spMkLst>
            <pc:docMk/>
            <pc:sldMk cId="0" sldId="259"/>
            <ac:spMk id="49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5T23:10:47.440" v="2" actId="27636"/>
        <pc:sldMkLst>
          <pc:docMk/>
          <pc:sldMk cId="0" sldId="263"/>
        </pc:sldMkLst>
        <pc:spChg chg="mod">
          <ac:chgData name="Chathoth Sreedharan, Rosh" userId="8d883906-a80c-4002-83da-2b38ff2a08cc" providerId="ADAL" clId="{AEB12F41-3F62-5A51-AB93-C75FDADA2D85}" dt="2026-04-25T23:10:47.440" v="2" actId="27636"/>
          <ac:spMkLst>
            <pc:docMk/>
            <pc:sldMk cId="0" sldId="263"/>
            <ac:spMk id="65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5T23:10:47.457" v="3" actId="27636"/>
        <pc:sldMkLst>
          <pc:docMk/>
          <pc:sldMk cId="0" sldId="265"/>
        </pc:sldMkLst>
        <pc:spChg chg="mod">
          <ac:chgData name="Chathoth Sreedharan, Rosh" userId="8d883906-a80c-4002-83da-2b38ff2a08cc" providerId="ADAL" clId="{AEB12F41-3F62-5A51-AB93-C75FDADA2D85}" dt="2026-04-25T23:10:47.457" v="3" actId="27636"/>
          <ac:spMkLst>
            <pc:docMk/>
            <pc:sldMk cId="0" sldId="265"/>
            <ac:spMk id="73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5T23:10:47.475" v="4" actId="27636"/>
        <pc:sldMkLst>
          <pc:docMk/>
          <pc:sldMk cId="0" sldId="267"/>
        </pc:sldMkLst>
        <pc:spChg chg="mod">
          <ac:chgData name="Chathoth Sreedharan, Rosh" userId="8d883906-a80c-4002-83da-2b38ff2a08cc" providerId="ADAL" clId="{AEB12F41-3F62-5A51-AB93-C75FDADA2D85}" dt="2026-04-25T23:10:47.475" v="4" actId="27636"/>
          <ac:spMkLst>
            <pc:docMk/>
            <pc:sldMk cId="0" sldId="267"/>
            <ac:spMk id="81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3T23:59:48.932" v="0" actId="400"/>
        <pc:sldMkLst>
          <pc:docMk/>
          <pc:sldMk cId="0" sldId="268"/>
        </pc:sldMkLst>
        <pc:spChg chg="mod">
          <ac:chgData name="Chathoth Sreedharan, Rosh" userId="8d883906-a80c-4002-83da-2b38ff2a08cc" providerId="ADAL" clId="{AEB12F41-3F62-5A51-AB93-C75FDADA2D85}" dt="2026-04-23T23:59:48.932" v="0" actId="400"/>
          <ac:spMkLst>
            <pc:docMk/>
            <pc:sldMk cId="0" sldId="268"/>
            <ac:spMk id="8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2690571"/>
            <a:ext cx="9144000" cy="6688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Click to add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1524000" y="1113183"/>
            <a:ext cx="9144000" cy="1507608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234078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16" name="Rectangle 1"/>
          <p:cNvSpPr/>
          <p:nvPr/>
        </p:nvSpPr>
        <p:spPr>
          <a:xfrm>
            <a:off x="2334409" y="5862918"/>
            <a:ext cx="1602891" cy="45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lick to add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-2"/>
            <a:ext cx="12192004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2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Click to add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38199" y="1391477"/>
            <a:ext cx="10515600" cy="4785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Rectangle 3"/>
          <p:cNvSpPr/>
          <p:nvPr/>
        </p:nvSpPr>
        <p:spPr>
          <a:xfrm>
            <a:off x="8659906" y="6492875"/>
            <a:ext cx="1000462" cy="2599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ubtitle 1"/>
          <p:cNvSpPr txBox="1">
            <a:spLocks noGrp="1"/>
          </p:cNvSpPr>
          <p:nvPr>
            <p:ph type="subTitle" sz="quarter" idx="1"/>
          </p:nvPr>
        </p:nvSpPr>
        <p:spPr>
          <a:xfrm>
            <a:off x="1524000" y="2690571"/>
            <a:ext cx="9144000" cy="668856"/>
          </a:xfrm>
          <a:prstGeom prst="rect">
            <a:avLst/>
          </a:prstGeom>
        </p:spPr>
        <p:txBody>
          <a:bodyPr/>
          <a:lstStyle/>
          <a:p>
            <a:pPr defTabSz="658368">
              <a:spcBef>
                <a:spcPts val="700"/>
              </a:spcBef>
              <a:defRPr sz="1728"/>
            </a:pPr>
            <a:r>
              <a:t>Rosh Sreedharan</a:t>
            </a:r>
          </a:p>
          <a:p>
            <a:pPr defTabSz="658368">
              <a:spcBef>
                <a:spcPts val="700"/>
              </a:spcBef>
              <a:defRPr sz="1728"/>
            </a:pPr>
            <a:r>
              <a:t>Dhruv Chaudhry</a:t>
            </a:r>
          </a:p>
        </p:txBody>
      </p:sp>
      <p:sp>
        <p:nvSpPr>
          <p:cNvPr id="36" name="Title 2"/>
          <p:cNvSpPr txBox="1">
            <a:spLocks noGrp="1"/>
          </p:cNvSpPr>
          <p:nvPr>
            <p:ph type="ctrTitle"/>
          </p:nvPr>
        </p:nvSpPr>
        <p:spPr>
          <a:xfrm>
            <a:off x="1524000" y="1113183"/>
            <a:ext cx="9144000" cy="1507608"/>
          </a:xfrm>
          <a:prstGeom prst="rect">
            <a:avLst/>
          </a:prstGeom>
        </p:spPr>
        <p:txBody>
          <a:bodyPr/>
          <a:lstStyle>
            <a:lvl1pPr defTabSz="877823">
              <a:defRPr sz="4224"/>
            </a:lvl1pPr>
          </a:lstStyle>
          <a:p>
            <a:r>
              <a:t>Multi-Domain Intelligent Assistant with Supervisor Agent Architecture</a:t>
            </a:r>
          </a:p>
        </p:txBody>
      </p:sp>
      <p:sp>
        <p:nvSpPr>
          <p:cNvPr id="37" name="Subtitle 1"/>
          <p:cNvSpPr txBox="1"/>
          <p:nvPr/>
        </p:nvSpPr>
        <p:spPr>
          <a:xfrm>
            <a:off x="1569719" y="4568418"/>
            <a:ext cx="5352921" cy="754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b="1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Natural Language Processing </a:t>
            </a:r>
            <a:r>
              <a:rPr b="0"/>
              <a:t>(Spring, 2026)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    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4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Why This Matters</a:t>
            </a:r>
          </a:p>
        </p:txBody>
      </p:sp>
      <p:sp>
        <p:nvSpPr>
          <p:cNvPr id="4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NLP systems are evolving from simple question answering to multi-step, decision-making assistants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Most current systems rely on monolithic RAG architectures (one model, one knowledge base)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These systems struggle when handling multiple domains simultaneously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Result: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Irrelevant document retrieval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Weak domain understanding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recovery when retrieval fails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 real-world use cases grow, there is a need for more structured, intelligent architectures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Context and Introduction</a:t>
            </a:r>
          </a:p>
        </p:txBody>
      </p:sp>
      <p:sp>
        <p:nvSpPr>
          <p:cNvPr id="4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 lIns="45719" tIns="45720" rIns="45719" bIns="45720" anchor="t">
            <a:normAutofit fontScale="92500" lnSpcReduction="10000"/>
          </a:bodyPr>
          <a:lstStyle/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NLP systems are moving beyond simple Q&amp;A into multi-step task execution</a:t>
            </a:r>
            <a:endParaRPr lang="en-US"/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Real-world assistants need to plan, retrieve, reason, and self-correct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 RAG systems usually rely on one model and one shared knowledge base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creates issues when handling very different domains in one system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Our project builds a multi-domain intelligent assistant for: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Industrial troubleshooting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Recipe assistance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Scientific paper summarization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/>
              <a:t>Cross-domain synthesis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/>
              <a:t>Web-search fallback</a:t>
            </a:r>
          </a:p>
          <a:p>
            <a:pPr marL="952500" indent="-342900" defTabSz="457200">
              <a:lnSpc>
                <a:spcPct val="100000"/>
              </a:lnSpc>
              <a:spcBef>
                <a:spcPts val="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/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use a supervisor agent to route each query to the right specialist agent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goal is to test whether this architecture improves accuracy, retrieval quality, and reliability compared to a single general RAG system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4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Problem and Challenges</a:t>
            </a:r>
          </a:p>
        </p:txBody>
      </p:sp>
      <p:sp>
        <p:nvSpPr>
          <p:cNvPr id="4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 RAG systems use one general pipeline for all queries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causes problems when questions come from different domains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query can be misunderstood or routed to the wrong type of information</a:t>
            </a:r>
          </a:p>
          <a:p>
            <a:pPr marL="0" indent="0" defTabSz="397763">
              <a:lnSpc>
                <a:spcPct val="100000"/>
              </a:lnSpc>
              <a:buSzTx/>
              <a:buFontTx/>
              <a:buNone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 challenges: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Cross-domain contamination: unrelated documents may be retrieved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Ambiguous queries: one question can fit multiple domains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Domain-specific terminology: fault codes, recipes, and research terms require different handling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Weak retrieval quality: irrelevant documents can lead to poor answers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Hallucination risk: the model may generate unsupported information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Latency: multiple retrieval and correction steps can slow the system</a:t>
            </a:r>
          </a:p>
          <a:p>
            <a:pPr marL="0" indent="0" defTabSz="397763">
              <a:lnSpc>
                <a:spcPct val="100000"/>
              </a:lnSpc>
              <a:buSzTx/>
              <a:buFontTx/>
              <a:buNone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problem:</a:t>
            </a:r>
            <a:br/>
            <a:r>
              <a:t>Can a supervisor-based multi-agent RAG system outperform a single monolithic RAG system in accuracy, retrieval quality, hallucination reduction, and task completion?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5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Related solutions / State of Art</a:t>
            </a:r>
          </a:p>
        </p:txBody>
      </p:sp>
      <p:sp>
        <p:nvSpPr>
          <p:cNvPr id="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400" b="1"/>
              <a:t>Three lines of related work motivate this design</a:t>
            </a:r>
          </a:p>
          <a:p>
            <a:pPr/>
            <a:r>
              <a:rPr sz="1400" b="1"/>
              <a:t>Retrieval-Augmented Generation</a:t>
            </a:r>
            <a:r>
              <a:rPr sz="1400" b="0"/>
              <a:t> (Lewis et al., NeurIPS 2020)</a:t>
            </a:r>
          </a:p>
          <a:p>
            <a:pPr lvl="1"/>
            <a:r>
              <a:rPr sz="1400" b="0"/>
              <a:t>Retrieves external documents before generation — but does not check retrieval quality</a:t>
            </a:r>
          </a:p>
          <a:p>
            <a:pPr/>
            <a:r>
              <a:rPr sz="1400" b="1"/>
              <a:t>Corrective RAG / CRAG</a:t>
            </a:r>
            <a:r>
              <a:rPr sz="1400" b="0"/>
              <a:t> (Yan et al., 2024)</a:t>
            </a:r>
          </a:p>
          <a:p>
            <a:pPr lvl="1"/>
            <a:r>
              <a:rPr sz="1400" b="0"/>
              <a:t>Adds a relevance-checking step; rewrites weak queries and retries — works as a plug-in pipeline</a:t>
            </a:r>
          </a:p>
          <a:p>
            <a:pPr/>
            <a:r>
              <a:rPr sz="1400" b="1"/>
              <a:t>Self-RAG</a:t>
            </a:r>
            <a:r>
              <a:rPr sz="1400" b="0"/>
              <a:t> (Asai et al., ICLR 2024)</a:t>
            </a:r>
          </a:p>
          <a:p>
            <a:pPr lvl="1"/>
            <a:r>
              <a:rPr sz="1400" b="0"/>
              <a:t>Model critiques its own output via reflection tokens — but requires fine-tuning</a:t>
            </a:r>
          </a:p>
          <a:p>
            <a:pPr/>
            <a:r>
              <a:rPr sz="1400" b="1"/>
              <a:t>Supervisor-based multi-agent systems</a:t>
            </a:r>
            <a:r>
              <a:rPr sz="1400" b="0"/>
              <a:t> (AutoGen — Wu et al., 2023; HuggingGPT — Shen et al., 2023)</a:t>
            </a:r>
          </a:p>
          <a:p>
            <a:pPr lvl="1"/>
            <a:r>
              <a:rPr sz="1400" b="0"/>
              <a:t>Central LLM routes tasks to specialists — but mainly scaled by </a:t>
            </a:r>
            <a:r>
              <a:rPr sz="1400" b="1"/>
              <a:t>tools</a:t>
            </a:r>
            <a:r>
              <a:rPr sz="1400" b="0"/>
              <a:t>, not by knowledge domains</a:t>
            </a:r>
          </a:p>
          <a:p>
            <a:pPr/>
            <a:r>
              <a:rPr sz="1400" b="1"/>
              <a:t>Modular RAG</a:t>
            </a:r>
            <a:r>
              <a:rPr sz="1400" b="0"/>
              <a:t> (Gao et al., 2024) — reconfigurable retrieval, but no multi-domain routing</a:t>
            </a:r>
          </a:p>
          <a:p>
            <a:pPr/>
            <a:r>
              <a:rPr sz="1400" b="1"/>
              <a:t>Our gap:</a:t>
            </a:r>
            <a:r>
              <a:rPr sz="1400" b="0"/>
              <a:t> few systems combine </a:t>
            </a:r>
            <a:r>
              <a:rPr sz="1400" b="1"/>
              <a:t>supervisor routing + domain-isolated retrieval + CRAG</a:t>
            </a:r>
            <a:r>
              <a:rPr sz="1400" b="0"/>
              <a:t> across heterogeneous domains (industrial · recipes · scientific papers)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5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Overview of Solution / Contributions</a:t>
            </a:r>
          </a:p>
        </p:txBody>
      </p:sp>
      <p:sp>
        <p:nvSpPr>
          <p:cNvPr id="5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500" b="0"/>
              <a:t>We propose a multi-domain intelligent assistant built around a supervisor-agent design</a:t>
            </a:r>
          </a:p>
          <a:p>
            <a:pPr/>
            <a:r>
              <a:rPr sz="1500" b="0"/>
              <a:t>The supervisor identifies user intent and routes the query to the correct route</a:t>
            </a:r>
          </a:p>
          <a:p>
            <a:pPr/>
            <a:r>
              <a:rPr sz="1500" b="1"/>
              <a:t>Three domain specialist agents:</a:t>
            </a:r>
          </a:p>
          <a:p>
            <a:pPr lvl="1"/>
            <a:r>
              <a:rPr sz="1500" b="0"/>
              <a:t>Industrial Troubleshooting · Recipe Assistant · Scientific Paper Summarizer</a:t>
            </a:r>
          </a:p>
          <a:p>
            <a:pPr/>
            <a:r>
              <a:rPr sz="1500" b="1"/>
              <a:t>Two safety routes</a:t>
            </a:r>
            <a:r>
              <a:rPr sz="1500" b="0"/>
              <a:t> (covered in detail on slide 9):</a:t>
            </a:r>
          </a:p>
          <a:p>
            <a:pPr lvl="1"/>
            <a:r>
              <a:rPr sz="1500" b="1"/>
              <a:t>Synthesis Agent</a:t>
            </a:r>
            <a:r>
              <a:rPr sz="1500" b="0"/>
              <a:t> — fuses CRAG outputs across domains for cross-domain queries</a:t>
            </a:r>
          </a:p>
          <a:p>
            <a:pPr lvl="1"/>
            <a:r>
              <a:rPr sz="1500" b="1"/>
              <a:t>Web-Search Fallback Agent</a:t>
            </a:r>
            <a:r>
              <a:rPr sz="1500" b="0"/>
              <a:t> — handles out-of-scope queries via Tavily / DDGS</a:t>
            </a:r>
          </a:p>
          <a:p>
            <a:pPr/>
            <a:r>
              <a:rPr sz="1500" b="0"/>
              <a:t>Each specialist has its own ChromaDB collection (no cross-domain contamination)</a:t>
            </a:r>
          </a:p>
          <a:p>
            <a:pPr/>
            <a:r>
              <a:rPr sz="1500" b="0"/>
              <a:t>All answer-producing routes share a </a:t>
            </a:r>
            <a:r>
              <a:rPr sz="1500" b="1"/>
              <a:t>Corrective RAG</a:t>
            </a:r>
            <a:r>
              <a:rPr sz="1500" b="0"/>
              <a:t> pipeline (grade · rewrite · retry · generate)</a:t>
            </a:r>
          </a:p>
          <a:p>
            <a:pPr/>
            <a:r>
              <a:rPr sz="1500" b="1"/>
              <a:t>Main contribution:</a:t>
            </a:r>
            <a:r>
              <a:rPr sz="1500" b="0"/>
              <a:t> test whether routing + domain isolation + CRAG beats a single monolithic RAG on routing accuracy, retrieval precision, hallucination, and task completion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6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Data Collecting</a:t>
            </a:r>
          </a:p>
        </p:txBody>
      </p:sp>
      <p:sp>
        <p:nvSpPr>
          <p:cNvPr id="6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800" b="0"/>
              <a:t>The project uses data from </a:t>
            </a:r>
            <a:r>
              <a:rPr sz="1800" b="1"/>
              <a:t>three separate domains</a:t>
            </a:r>
            <a:r>
              <a:rPr sz="1800" b="0"/>
              <a:t> to test multi-domain performance</a:t>
            </a:r>
          </a:p>
          <a:p>
            <a:pPr/>
            <a:r>
              <a:rPr sz="1800" b="1"/>
              <a:t>Industrial troubleshooting:</a:t>
            </a:r>
          </a:p>
          <a:p>
            <a:pPr lvl="1"/>
            <a:r>
              <a:rPr sz="1800" b="0"/>
              <a:t>Rockwell Automation manuals and Logix troubleshooting articles</a:t>
            </a:r>
          </a:p>
          <a:p>
            <a:pPr/>
            <a:r>
              <a:rPr sz="1800" b="1"/>
              <a:t>Recipe assistance:</a:t>
            </a:r>
          </a:p>
          <a:p>
            <a:pPr lvl="1"/>
            <a:r>
              <a:rPr sz="1800" b="0"/>
              <a:t>Food.com recipe dataset</a:t>
            </a:r>
          </a:p>
          <a:p>
            <a:pPr/>
            <a:r>
              <a:rPr sz="1800" b="1"/>
              <a:t>Scientific paper summarization:</a:t>
            </a:r>
          </a:p>
          <a:p>
            <a:pPr lvl="1"/>
            <a:r>
              <a:rPr sz="1800" b="0"/>
              <a:t>ArXiv API for paper abstracts and metadata</a:t>
            </a:r>
          </a:p>
          <a:p>
            <a:pPr/>
            <a:r>
              <a:rPr sz="1800" b="0"/>
              <a:t>Each domain has its own data source and knowledge base</a:t>
            </a:r>
          </a:p>
          <a:p>
            <a:pPr/>
            <a:r>
              <a:rPr sz="1800" b="0"/>
              <a:t>Lets us compare </a:t>
            </a:r>
            <a:r>
              <a:rPr sz="1800" b="1"/>
              <a:t>domain-isolated retrieval</a:t>
            </a:r>
            <a:r>
              <a:rPr sz="1800" b="0"/>
              <a:t> against a single shared vector-store baseline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6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Data Preprocessing</a:t>
            </a:r>
          </a:p>
        </p:txBody>
      </p:sp>
      <p:sp>
        <p:nvSpPr>
          <p:cNvPr id="6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domain requires its own preprocessing before retrieval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Industrial data:</a:t>
            </a:r>
            <a:br/>
            <a:r>
              <a:t>Extract fault codes, equipment model numbers, parameter IDs, and technical abbreviations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Recipe data:</a:t>
            </a:r>
            <a:br/>
            <a:r>
              <a:t>Clean ingredients, normalize recipe steps, and organize nutrition/rating fields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Scientific data:</a:t>
            </a:r>
            <a:br/>
            <a:r>
              <a:t>Parse paper titles, abstracts, authors, keywords, and metadata from ArXiv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Documents are then chunked, embedded, and stored in </a:t>
            </a:r>
            <a:r>
              <a:rPr b="1"/>
              <a:t>domain-specific ChromaDB collections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Goal: improve retrieval accuracy by making each knowledge base cleaner, more searchable, and domain-aware.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6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Methodology </a:t>
            </a:r>
          </a:p>
        </p:txBody>
      </p:sp>
      <p:sp>
        <p:nvSpPr>
          <p:cNvPr id="6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5300000" cy="4900000"/>
          </a:xfrm>
          <a:prstGeom prst="rect">
            <a:avLst/>
          </a:prstGeom>
        </p:spPr>
        <p:txBody>
          <a:bodyPr/>
          <a:lstStyle/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500" b="0"/>
              <a:t>User query first goes to the </a:t>
            </a:r>
            <a:r>
              <a:rPr sz="1500" b="1"/>
              <a:t>supervisor agent</a:t>
            </a:r>
            <a:endParaRPr b="0"/>
          </a:p>
          <a:p>
            <a:pPr/>
            <a:r>
              <a:rPr sz="1500" b="0"/>
              <a:t>Supervisor classifies into one of three domains:</a:t>
            </a:r>
          </a:p>
          <a:p>
            <a:pPr lvl="1"/>
            <a:r>
              <a:rPr sz="1500" b="0"/>
              <a:t>Industrial · Recipe · Scientific</a:t>
            </a:r>
          </a:p>
          <a:p>
            <a:pPr/>
            <a:r>
              <a:rPr sz="1500" b="1"/>
              <a:t>High confidence</a:t>
            </a:r>
            <a:r>
              <a:rPr sz="1500" b="0"/>
              <a:t> → route to specialist agent</a:t>
            </a:r>
          </a:p>
          <a:p>
            <a:pPr/>
            <a:r>
              <a:rPr sz="1500" b="1"/>
              <a:t>Low confidence</a:t>
            </a:r>
            <a:r>
              <a:rPr sz="1500" b="0"/>
              <a:t> → ask a clarification question</a:t>
            </a:r>
          </a:p>
          <a:p>
            <a:pPr/>
            <a:r>
              <a:rPr sz="1500" b="1"/>
              <a:t>Cross-domain query</a:t>
            </a:r>
            <a:r>
              <a:rPr sz="1500" b="0"/>
              <a:t> → Synthesis Agent fuses results from multiple domains</a:t>
            </a:r>
          </a:p>
          <a:p>
            <a:pPr/>
            <a:r>
              <a:rPr sz="1500" b="1"/>
              <a:t>Out-of-scope query</a:t>
            </a:r>
            <a:r>
              <a:rPr sz="1500" b="0"/>
              <a:t> → Web-Search Fallback Agent (Tavily / DDGS)</a:t>
            </a:r>
          </a:p>
          <a:p>
            <a:pPr/>
            <a:r>
              <a:rPr sz="1500" b="0"/>
              <a:t>Each specialist runs a </a:t>
            </a:r>
            <a:r>
              <a:rPr sz="1500" b="1"/>
              <a:t>Corrective RAG</a:t>
            </a:r>
            <a:r>
              <a:rPr sz="1500" b="0"/>
              <a:t> pipeline:</a:t>
            </a:r>
          </a:p>
          <a:p>
            <a:pPr lvl="1"/>
            <a:r>
              <a:rPr sz="1500" b="0"/>
              <a:t>Retrieve → Grade → Rewrite → Retry → Generate</a:t>
            </a:r>
          </a:p>
        </p:txBody>
      </p:sp>
      <p:pic>
        <p:nvPicPr>
          <p:cNvPr id="70" name="Picture 69" descr="slide9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300000"/>
            <a:ext cx="5400000" cy="48377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7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Models selection and parameters</a:t>
            </a:r>
          </a:p>
        </p:txBody>
      </p:sp>
      <p:sp>
        <p:nvSpPr>
          <p:cNvPr id="7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21306" y="1408156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300" b="1"/>
              <a:t>LLM (primary):</a:t>
            </a:r>
            <a:r>
              <a:rPr sz="1300" b="0"/>
              <a:t> Gemini 2.5 Flash — supervisor routing, document grading, query rewriting, synthesis, fallback, response generation</a:t>
            </a:r>
          </a:p>
          <a:p>
            <a:pPr/>
            <a:r>
              <a:rPr sz="1300" b="1"/>
              <a:t>LLM (local failover):</a:t>
            </a:r>
            <a:r>
              <a:rPr sz="1300" b="0"/>
              <a:t> Gemma 3 12B — keeps the system operational when the API is unreachable</a:t>
            </a:r>
          </a:p>
          <a:p>
            <a:pPr/>
            <a:r>
              <a:rPr sz="1300" b="1"/>
              <a:t>Routing — two-tier text classification:</a:t>
            </a:r>
          </a:p>
          <a:p>
            <a:pPr lvl="1"/>
            <a:r>
              <a:rPr sz="1300" b="1"/>
              <a:t>Tier 1:</a:t>
            </a:r>
            <a:r>
              <a:rPr sz="1300" b="0"/>
              <a:t> lightweight lexical / keyword text classifier (rule-based, no LLM call) — handles obvious queries cheaply</a:t>
            </a:r>
          </a:p>
          <a:p>
            <a:pPr lvl="1"/>
            <a:r>
              <a:rPr sz="1300" b="1"/>
              <a:t>Tier 2:</a:t>
            </a:r>
            <a:r>
              <a:rPr sz="1300" b="0"/>
              <a:t> LLM-based zero-shot supervisor — handles ambiguous queries; emits domain + confidence + second-choice</a:t>
            </a:r>
          </a:p>
          <a:p>
            <a:pPr/>
            <a:r>
              <a:rPr sz="1300" b="1"/>
              <a:t>Embedding model:</a:t>
            </a:r>
            <a:r>
              <a:rPr sz="1300" b="0"/>
              <a:t> GTE-Large (1024-dim vectors)</a:t>
            </a:r>
          </a:p>
          <a:p>
            <a:pPr/>
            <a:r>
              <a:rPr sz="1300" b="1"/>
              <a:t>Vector database:</a:t>
            </a:r>
            <a:r>
              <a:rPr sz="1300" b="0"/>
              <a:t> ChromaDB with separate collections per domain</a:t>
            </a:r>
          </a:p>
          <a:p>
            <a:pPr/>
            <a:r>
              <a:rPr sz="1300" b="1"/>
              <a:t>No model fine-tuning</a:t>
            </a:r>
            <a:r>
              <a:rPr sz="1300" b="0"/>
              <a:t> — reliability comes from retrieval grading, domain prompts, and source grounding</a:t>
            </a:r>
          </a:p>
          <a:p>
            <a:pPr/>
            <a:r>
              <a:rPr sz="1300" b="1"/>
              <a:t>Data augmentation:</a:t>
            </a:r>
            <a:r>
              <a:rPr sz="1300" b="0"/>
              <a:t> CRAG query rewriting + domain-specific terminology expansion</a:t>
            </a:r>
          </a:p>
          <a:p>
            <a:pPr/>
            <a:r>
              <a:rPr sz="1300" b="1"/>
              <a:t>Tuning parameters:</a:t>
            </a:r>
          </a:p>
          <a:p>
            <a:pPr lvl="1"/>
            <a:r>
              <a:rPr sz="1300" b="0"/>
              <a:t>Routing confidence threshold · Lexical-router threshold · Top-k retrieval · Max 2 rewrite attempts · Per-agent prompt tuning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Setup, Validation, and Testing</a:t>
            </a:r>
          </a:p>
        </p:txBody>
      </p:sp>
      <p:sp>
        <p:nvSpPr>
          <p:cNvPr id="7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400" b="0"/>
              <a:t>This project does </a:t>
            </a:r>
            <a:r>
              <a:rPr sz="1400" b="1"/>
              <a:t>not</a:t>
            </a:r>
            <a:r>
              <a:rPr sz="1400" b="0"/>
              <a:t> train a large language model — focus is the architecture, not fine-tuning</a:t>
            </a:r>
          </a:p>
          <a:p>
            <a:pPr/>
            <a:r>
              <a:rPr sz="1400" b="1"/>
              <a:t>Setup:</a:t>
            </a:r>
          </a:p>
          <a:p>
            <a:pPr lvl="1"/>
            <a:r>
              <a:rPr sz="1400" b="0"/>
              <a:t>Build domain-specific vector stores</a:t>
            </a:r>
          </a:p>
          <a:p>
            <a:pPr lvl="1"/>
            <a:r>
              <a:rPr sz="1400" b="0"/>
              <a:t>Write supervisor and specialist prompts</a:t>
            </a:r>
          </a:p>
          <a:p>
            <a:pPr lvl="1"/>
            <a:r>
              <a:rPr sz="1400" b="0"/>
              <a:t>Assemble CRAG retrieval and query-rewrite pipeline</a:t>
            </a:r>
          </a:p>
          <a:p>
            <a:pPr/>
            <a:r>
              <a:rPr sz="1400" b="1"/>
              <a:t>Validation:</a:t>
            </a:r>
          </a:p>
          <a:p>
            <a:pPr lvl="1"/>
            <a:r>
              <a:rPr sz="1400" b="0"/>
              <a:t>Tune routing confidence threshold</a:t>
            </a:r>
          </a:p>
          <a:p>
            <a:pPr lvl="1"/>
            <a:r>
              <a:rPr sz="1400" b="0"/>
              <a:t>Check retrieval quality from each domain database</a:t>
            </a:r>
          </a:p>
          <a:p>
            <a:pPr lvl="1"/>
            <a:r>
              <a:rPr sz="1400" b="0"/>
              <a:t>Adjust top-k retrieval and rewrite-attempt cap</a:t>
            </a:r>
          </a:p>
          <a:p>
            <a:pPr/>
            <a:r>
              <a:rPr sz="1400" b="1"/>
              <a:t>Testing:</a:t>
            </a:r>
          </a:p>
          <a:p>
            <a:pPr lvl="1"/>
            <a:r>
              <a:rPr sz="1400" b="1"/>
              <a:t>150 evaluation queries</a:t>
            </a:r>
            <a:r>
              <a:rPr sz="1400" b="0"/>
              <a:t> total, </a:t>
            </a:r>
            <a:r>
              <a:rPr sz="1400" b="1"/>
              <a:t>50 per domain</a:t>
            </a:r>
            <a:r>
              <a:rPr sz="1400" b="0"/>
              <a:t> (industrial · recipe · scientific)</a:t>
            </a:r>
          </a:p>
          <a:p>
            <a:pPr lvl="1"/>
            <a:r>
              <a:rPr sz="1400" b="0"/>
              <a:t>Mix of routine, ambiguous, adversarial, cross-domain, and out-of-scope queries</a:t>
            </a:r>
          </a:p>
          <a:p>
            <a:pPr lvl="1"/>
            <a:r>
              <a:rPr sz="1400" b="0"/>
              <a:t>Compare multi-agent system vs. single monolithic RAG baseline</a:t>
            </a:r>
          </a:p>
          <a:p>
            <a:pPr/>
            <a:r>
              <a:rPr sz="1400" b="1"/>
              <a:t>Goal:</a:t>
            </a:r>
            <a:r>
              <a:rPr sz="1400" b="0"/>
              <a:t> measure routing accuracy, retrieval precision, hallucination rate, and task completion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8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>
            <a:lvl1pPr defTabSz="886968">
              <a:defRPr sz="4268"/>
            </a:lvl1pPr>
          </a:lstStyle>
          <a:p>
            <a:r>
              <a:t>Evaluation &amp; Performance Comparison</a:t>
            </a:r>
          </a:p>
        </p:txBody>
      </p:sp>
      <p:sp>
        <p:nvSpPr>
          <p:cNvPr id="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301752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400" b="0"/>
              <a:t>Evaluated against a </a:t>
            </a:r>
            <a:r>
              <a:rPr sz="1400" b="1"/>
              <a:t>monolithic RAG baseline</a:t>
            </a:r>
            <a:r>
              <a:rPr sz="1400" b="0"/>
              <a:t> that holds everything constant except the architecture</a:t>
            </a:r>
          </a:p>
          <a:p>
            <a:pPr/>
            <a:r>
              <a:rPr sz="1400" b="1"/>
              <a:t>Baseline system:</a:t>
            </a:r>
          </a:p>
          <a:p>
            <a:pPr lvl="1"/>
            <a:r>
              <a:rPr sz="1400" b="0"/>
              <a:t>Same LLM (Gemini 2.5 Flash), same embedding model (GTE-Large), one shared ChromaDB store</a:t>
            </a:r>
          </a:p>
          <a:p>
            <a:pPr lvl="1"/>
            <a:r>
              <a:rPr sz="1400" b="0"/>
              <a:t>No supervisor routing · no corrective retrieval · no synthesis · no fallback</a:t>
            </a:r>
          </a:p>
          <a:p>
            <a:pPr/>
            <a:r>
              <a:rPr sz="1400" b="1"/>
              <a:t>Evaluation dataset:</a:t>
            </a:r>
          </a:p>
          <a:p>
            <a:pPr lvl="1"/>
            <a:r>
              <a:rPr sz="1400" b="0"/>
              <a:t>150 total queries (50 per domain)</a:t>
            </a:r>
          </a:p>
          <a:p>
            <a:pPr lvl="1"/>
            <a:r>
              <a:rPr sz="1400" b="0"/>
              <a:t>Routine, ambiguous, adversarial, cross-domain, and out-of-scope questions</a:t>
            </a:r>
          </a:p>
          <a:p>
            <a:pPr/>
            <a:r>
              <a:rPr sz="1400" b="1"/>
              <a:t>Performance metrics:</a:t>
            </a:r>
          </a:p>
          <a:p>
            <a:pPr lvl="1"/>
            <a:r>
              <a:rPr sz="1400" b="1"/>
              <a:t>Routing Accuracy:</a:t>
            </a:r>
            <a:r>
              <a:rPr sz="1400" b="0"/>
              <a:t> does the supervisor pick the right route (or correctly clarify)?</a:t>
            </a:r>
          </a:p>
          <a:p>
            <a:pPr lvl="1"/>
            <a:r>
              <a:rPr sz="1400" b="1"/>
              <a:t>Precision@5:</a:t>
            </a:r>
            <a:r>
              <a:rPr sz="1400" b="0"/>
              <a:t> are the top retrieved documents actually relevant?</a:t>
            </a:r>
          </a:p>
          <a:p>
            <a:pPr lvl="1"/>
            <a:r>
              <a:rPr sz="1400" b="1"/>
              <a:t>Hallucination Rate:</a:t>
            </a:r>
            <a:r>
              <a:rPr sz="1400" b="0"/>
              <a:t> does the answer stay supported by sources?</a:t>
            </a:r>
          </a:p>
          <a:p>
            <a:pPr lvl="1"/>
            <a:r>
              <a:rPr sz="1400" b="1"/>
              <a:t>Task Completion Rate:</a:t>
            </a:r>
            <a:r>
              <a:rPr sz="1400" b="0"/>
              <a:t> did the user get a useful, grounded answer?</a:t>
            </a:r>
          </a:p>
          <a:p>
            <a:pPr/>
            <a:r>
              <a:rPr sz="1400" b="1"/>
              <a:t>Main comparison:</a:t>
            </a:r>
            <a:r>
              <a:rPr sz="1400" b="0"/>
              <a:t> does supervisor routing + domain isolation + CRAG improve reliability over a single general RAG pipeline?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8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Expected Outcomes &amp; Findings</a:t>
            </a:r>
          </a:p>
        </p:txBody>
      </p:sp>
      <p:sp>
        <p:nvSpPr>
          <p:cNvPr id="8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400" b="1"/>
              <a:t>Hypothesis:</a:t>
            </a:r>
            <a:r>
              <a:rPr sz="1400" b="0"/>
              <a:t> the multi-agent system outperforms the monolithic RAG baseline on all four metrics</a:t>
            </a:r>
          </a:p>
          <a:p>
            <a:pPr/>
            <a:r>
              <a:rPr sz="1400" b="1"/>
              <a:t>Higher routing accuracy</a:t>
            </a:r>
            <a:r>
              <a:rPr sz="1400" b="0"/>
              <a:t> — supervisor sends queries to the correct domain agent (or correctly clarifies)</a:t>
            </a:r>
          </a:p>
          <a:p>
            <a:pPr/>
            <a:r>
              <a:rPr sz="1400" b="1"/>
              <a:t>Better retrieval precision</a:t>
            </a:r>
            <a:r>
              <a:rPr sz="1400" b="0"/>
              <a:t> — each domain has its own isolated knowledge base</a:t>
            </a:r>
          </a:p>
          <a:p>
            <a:pPr/>
            <a:r>
              <a:rPr sz="1400" b="1"/>
              <a:t>Lower hallucination rate</a:t>
            </a:r>
            <a:r>
              <a:rPr sz="1400" b="0"/>
              <a:t> — CRAG grades retrieved documents before generating answers</a:t>
            </a:r>
          </a:p>
          <a:p>
            <a:pPr/>
            <a:r>
              <a:rPr sz="1400" b="1"/>
              <a:t>Higher task completion</a:t>
            </a:r>
            <a:r>
              <a:rPr sz="1400" b="0"/>
              <a:t> — weak retrievals get rewritten and retried; synthesis handles cross-domain queries; fallback handles out-of-scope queries safely</a:t>
            </a:r>
          </a:p>
          <a:p>
            <a:pPr/>
            <a:r>
              <a:rPr sz="1400" b="1"/>
              <a:t>Main expected finding:</a:t>
            </a:r>
          </a:p>
          <a:p>
            <a:pPr lvl="1"/>
            <a:r>
              <a:rPr sz="1400" b="0"/>
              <a:t>Domain specialization + corrective retrieval = more reliable NLP responses across heterogeneous query types — </a:t>
            </a:r>
            <a:r>
              <a:rPr sz="1400" b="1"/>
              <a:t>architecture matters as much as model choice</a:t>
            </a:r>
          </a:p>
          <a:p>
            <a:pPr/>
            <a:r>
              <a:rPr sz="1400" b="1"/>
              <a:t>Forward-looking:</a:t>
            </a:r>
            <a:r>
              <a:rPr sz="1400" b="0"/>
              <a:t> the same architecture is designed to extend to a </a:t>
            </a:r>
            <a:r>
              <a:rPr sz="1400" b="1"/>
              <a:t>multi-turn task-completion agent</a:t>
            </a:r>
            <a:r>
              <a:rPr sz="1400" b="0"/>
              <a:t> — supervisor routing, tool use, retry, and fallback are the substrate; planning and stateful execution are the natural next layer (see Future Work)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8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Lessons learned and Perspectives </a:t>
            </a:r>
          </a:p>
        </p:txBody>
      </p:sp>
      <p:sp>
        <p:nvSpPr>
          <p:cNvPr id="8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300" b="0"/>
              <a:t>Multi-domain NLP systems need more than a strong language model</a:t>
            </a:r>
          </a:p>
          <a:p>
            <a:pPr/>
            <a:r>
              <a:rPr sz="1300" b="1"/>
              <a:t>Architecture matters:</a:t>
            </a:r>
            <a:r>
              <a:rPr sz="1300" b="0"/>
              <a:t> routing, domain separation, and retrieval correction can improve reliability</a:t>
            </a:r>
          </a:p>
          <a:p>
            <a:pPr/>
            <a:r>
              <a:rPr sz="1300" b="0"/>
              <a:t>Domain-specific preprocessing helps the system better understand technical terms, recipe details, and research metadata</a:t>
            </a:r>
          </a:p>
          <a:p>
            <a:pPr/>
            <a:r>
              <a:rPr sz="1300" b="0"/>
              <a:t>CRAG adds value by reducing weak retrieval and unsupported responses</a:t>
            </a:r>
          </a:p>
          <a:p>
            <a:pPr/>
            <a:r>
              <a:rPr sz="1300" b="1"/>
              <a:t>Main tradeoff:</a:t>
            </a:r>
            <a:r>
              <a:rPr sz="1300" b="0"/>
              <a:t> more correction steps can improve accuracy but may increase response time</a:t>
            </a:r>
          </a:p>
          <a:p>
            <a:pPr/>
            <a:r>
              <a:rPr sz="1300" b="1"/>
              <a:t>The architecture is a reusable substrate for agentic systems</a:t>
            </a:r>
            <a:r>
              <a:rPr sz="1300" b="0"/>
              <a:t> — not just RAG</a:t>
            </a:r>
          </a:p>
          <a:p>
            <a:pPr/>
            <a:r>
              <a:rPr sz="1300" b="1"/>
              <a:t>Future improvements:</a:t>
            </a:r>
          </a:p>
          <a:p>
            <a:pPr lvl="1"/>
            <a:r>
              <a:rPr sz="1300" b="1"/>
              <a:t>Extend to a multi-turn task-completion agent</a:t>
            </a:r>
            <a:r>
              <a:rPr sz="1300" b="0"/>
              <a:t> — add a planning layer + stateful execution on top of the existing supervisor / specialists / CRAG / fallback substrate (e.g., diagnose-then-guide-fix for industrial; multi-meal recipe planning with constraint tracking)</a:t>
            </a:r>
          </a:p>
          <a:p>
            <a:pPr lvl="1"/>
            <a:r>
              <a:rPr sz="1300" b="0"/>
              <a:t>Add more domains and grow the synthesis / fallback coverage</a:t>
            </a:r>
          </a:p>
          <a:p>
            <a:pPr lvl="1"/>
            <a:r>
              <a:rPr sz="1300" b="0"/>
              <a:t>Optimize latency — cache grader / hallucination-checker calls; explore the optional fine-tuned grader / router as a faster Tier-2</a:t>
            </a:r>
          </a:p>
          <a:p>
            <a:pPr lvl="1"/>
            <a:r>
              <a:rPr sz="1300" b="0"/>
              <a:t>Better-calibrated routing confidence thresholds</a:t>
            </a:r>
          </a:p>
          <a:p>
            <a:pPr lvl="1"/>
            <a:r>
              <a:rPr sz="1300" b="0"/>
              <a:t>Broader real-world evaluation beyond the curated 150-query set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9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Bibliographical References</a:t>
            </a:r>
          </a:p>
        </p:txBody>
      </p:sp>
      <p:sp>
        <p:nvSpPr>
          <p:cNvPr id="9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/>
            <a:r>
              <a:rPr sz="1200" b="0"/>
              <a:t>Lewis, P. et al. </a:t>
            </a:r>
            <a:r>
              <a:rPr sz="1200" b="1"/>
              <a:t>Retrieval-Augmented Generation for Knowledge-Intensive NLP Tasks.</a:t>
            </a:r>
            <a:r>
              <a:rPr sz="1200" b="0"/>
              <a:t> NeurIPS 2020.</a:t>
            </a:r>
            <a:endParaRPr/>
          </a:p>
          <a:p>
            <a:pPr/>
            <a:r>
              <a:rPr sz="1200" b="0"/>
              <a:t>Yan, S.-Q. et al. </a:t>
            </a:r>
            <a:r>
              <a:rPr sz="1200" b="1"/>
              <a:t>Corrective Retrieval Augmented Generation (CRAG).</a:t>
            </a:r>
            <a:r>
              <a:rPr sz="1200" b="0"/>
              <a:t> arXiv:2401.15884, 2024.</a:t>
            </a:r>
          </a:p>
          <a:p>
            <a:pPr/>
            <a:r>
              <a:rPr sz="1200" b="0"/>
              <a:t>Asai, A. et al. </a:t>
            </a:r>
            <a:r>
              <a:rPr sz="1200" b="1"/>
              <a:t>Self-RAG: Learning to Retrieve, Generate, and Critique through Self-Reflection.</a:t>
            </a:r>
            <a:r>
              <a:rPr sz="1200" b="0"/>
              <a:t> ICLR 2024.</a:t>
            </a:r>
          </a:p>
          <a:p>
            <a:pPr/>
            <a:r>
              <a:rPr sz="1200" b="0"/>
              <a:t>Wu, Q. et al. </a:t>
            </a:r>
            <a:r>
              <a:rPr sz="1200" b="1"/>
              <a:t>AutoGen: Enabling Next-Gen LLM Applications via Multi-Agent Conversation.</a:t>
            </a:r>
            <a:r>
              <a:rPr sz="1200" b="0"/>
              <a:t> arXiv:2308.08155, 2023.</a:t>
            </a:r>
          </a:p>
          <a:p>
            <a:pPr/>
            <a:r>
              <a:rPr sz="1200" b="0"/>
              <a:t>Shen, Y. et al. </a:t>
            </a:r>
            <a:r>
              <a:rPr sz="1200" b="1"/>
              <a:t>HuggingGPT: Solving AI Tasks with ChatGPT and its Friends in Hugging Face.</a:t>
            </a:r>
            <a:r>
              <a:rPr sz="1200" b="0"/>
              <a:t> NeurIPS 2023.</a:t>
            </a:r>
          </a:p>
          <a:p>
            <a:pPr/>
            <a:r>
              <a:rPr sz="1200" b="0"/>
              <a:t>Gao, Y. et al. </a:t>
            </a:r>
            <a:r>
              <a:rPr sz="1200" b="1"/>
              <a:t>Modular RAG: Transforming RAG into a LEGO-like Reconfigurable Framework.</a:t>
            </a:r>
            <a:r>
              <a:rPr sz="1200" b="0"/>
              <a:t> arXiv:2407.21059, 2024.</a:t>
            </a:r>
          </a:p>
          <a:p>
            <a:pPr/>
            <a:r>
              <a:rPr sz="1200" b="0"/>
              <a:t>Li, Z. et al. </a:t>
            </a:r>
            <a:r>
              <a:rPr sz="1200" b="1"/>
              <a:t>Towards General Text Embeddings (GTE).</a:t>
            </a:r>
            <a:r>
              <a:rPr sz="1200" b="0"/>
              <a:t> arXiv:2308.03281, 2023.</a:t>
            </a:r>
          </a:p>
          <a:p>
            <a:pPr/>
            <a:r>
              <a:rPr sz="1200" b="0"/>
              <a:t>Google DeepMind. </a:t>
            </a:r>
            <a:r>
              <a:rPr sz="1200" b="1"/>
              <a:t>Gemini 2.5 Flash Technical Report.</a:t>
            </a:r>
            <a:r>
              <a:rPr sz="1200" b="0"/>
              <a:t> 2025.  ·  </a:t>
            </a:r>
            <a:r>
              <a:rPr sz="1200" b="1"/>
              <a:t>Gemma 3 Technical Report.</a:t>
            </a:r>
            <a:r>
              <a:rPr sz="1200" b="0"/>
              <a:t> 2025.</a:t>
            </a:r>
          </a:p>
          <a:p>
            <a:pPr/>
            <a:r>
              <a:rPr sz="1200" b="0"/>
              <a:t>LangGraph Documentation — multi-agent orchestration. langchain-ai.github.io/langgraph</a:t>
            </a:r>
          </a:p>
          <a:p>
            <a:pPr/>
            <a:r>
              <a:rPr sz="1200" b="0"/>
              <a:t>Chroma. </a:t>
            </a:r>
            <a:r>
              <a:rPr sz="1200" b="1"/>
              <a:t>ChromaDB — open-source embedding database.</a:t>
            </a:r>
            <a:r>
              <a:rPr sz="1200" b="0"/>
              <a:t> trychroma.com</a:t>
            </a:r>
          </a:p>
          <a:p>
            <a:pPr/>
            <a:r>
              <a:rPr sz="1200" b="0"/>
              <a:t>Food.com Recipes &amp; Interactions Dataset (Kaggle / Food.com)  ·  ArXiv API — arxiv.org/help/api  ·  Rockwell Logix 5000 troubleshooting docs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9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Demo !</a:t>
            </a:r>
          </a:p>
        </p:txBody>
      </p:sp>
      <p:sp>
        <p:nvSpPr>
          <p:cNvPr id="9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/>
            <a:r>
              <a:rPr sz="1800" b="1"/>
              <a:t>Live demonstration of the deployed system</a:t>
            </a:r>
            <a:endParaRPr/>
          </a:p>
          <a:p>
            <a:pPr/>
          </a:p>
          <a:p>
            <a:pPr/>
            <a:r>
              <a:rPr sz="1800" b="1"/>
              <a:t>Planned queries (watch routing + source attribution):</a:t>
            </a:r>
          </a:p>
          <a:p>
            <a:pPr lvl="1"/>
            <a:r>
              <a:rPr sz="1800" b="0"/>
              <a:t>Industrial — fault code or PLC question</a:t>
            </a:r>
          </a:p>
          <a:p>
            <a:pPr lvl="1"/>
            <a:r>
              <a:rPr sz="1800" b="0"/>
              <a:t>Recipe — substitution or technique</a:t>
            </a:r>
          </a:p>
          <a:p>
            <a:pPr lvl="1"/>
            <a:r>
              <a:rPr sz="1800" b="0"/>
              <a:t>Scientific — paper summarization</a:t>
            </a:r>
          </a:p>
          <a:p>
            <a:pPr lvl="1"/>
            <a:r>
              <a:rPr sz="1800" b="0"/>
              <a:t>Ambiguous query → triggers </a:t>
            </a:r>
            <a:r>
              <a:rPr sz="1800" b="1"/>
              <a:t>clarify</a:t>
            </a:r>
          </a:p>
          <a:p>
            <a:pPr lvl="1"/>
            <a:r>
              <a:rPr sz="1800" b="0"/>
              <a:t>Cross-domain query → triggers </a:t>
            </a:r>
            <a:r>
              <a:rPr sz="1800" b="1"/>
              <a:t>synthesis</a:t>
            </a:r>
          </a:p>
          <a:p>
            <a:pPr lvl="1"/>
            <a:r>
              <a:rPr sz="1800" b="0"/>
              <a:t>Out-of-scope query → triggers </a:t>
            </a:r>
            <a:r>
              <a:rPr sz="1800" b="1"/>
              <a:t>web-search fallback</a:t>
            </a:r>
          </a:p>
          <a:p>
            <a:pPr/>
          </a:p>
          <a:p>
            <a:pPr/>
            <a:r>
              <a:rPr sz="1800" b="1"/>
              <a:t>What to watch for:</a:t>
            </a:r>
            <a:r>
              <a:rPr sz="1800" b="0"/>
              <a:t> the supervisor's routing decision and the per-source attribution in the final answer — that's the architecture working in real time.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3058C49D50A4BBDFBF11EB30703B5" ma:contentTypeVersion="3" ma:contentTypeDescription="Create a new document." ma:contentTypeScope="" ma:versionID="013d2ecbb6d56fb10bec30eb272170cd">
  <xsd:schema xmlns:xsd="http://www.w3.org/2001/XMLSchema" xmlns:xs="http://www.w3.org/2001/XMLSchema" xmlns:p="http://schemas.microsoft.com/office/2006/metadata/properties" xmlns:ns2="9873a98d-35a7-4307-bac7-650841bde400" targetNamespace="http://schemas.microsoft.com/office/2006/metadata/properties" ma:root="true" ma:fieldsID="11e5caff0585493577b0f047ea0cc2e8" ns2:_="">
    <xsd:import namespace="9873a98d-35a7-4307-bac7-650841bde4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3a98d-35a7-4307-bac7-650841bde4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71661A-75AC-499B-8B60-01ABE931814A}">
  <ds:schemaRefs>
    <ds:schemaRef ds:uri="9873a98d-35a7-4307-bac7-650841bde4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A7F21AE-0A48-4E03-9E02-9A0046BBA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986727-BC6C-45B3-8F89-3715996CD01B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Multi-Domain Intelligent Assistant with Supervisor Agent Architecture</vt:lpstr>
      <vt:lpstr>2 min to convince the audience </vt:lpstr>
      <vt:lpstr>Context and Introduction</vt:lpstr>
      <vt:lpstr>Problem and Challenges</vt:lpstr>
      <vt:lpstr>Related solutions / State of Art</vt:lpstr>
      <vt:lpstr>Overview of Solution / Contributions</vt:lpstr>
      <vt:lpstr>Data Collecting</vt:lpstr>
      <vt:lpstr>Data Preprocessing</vt:lpstr>
      <vt:lpstr>Methodology </vt:lpstr>
      <vt:lpstr>Models selection and parameters</vt:lpstr>
      <vt:lpstr>Network Training – validation - testing </vt:lpstr>
      <vt:lpstr>Evaluations – Performance – comparing </vt:lpstr>
      <vt:lpstr>Outcomes/finding</vt:lpstr>
      <vt:lpstr>Lessons learned and Perspectives </vt:lpstr>
      <vt:lpstr>Bibliographical References</vt:lpstr>
      <vt:lpstr>Demo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2026-04-25T23:14:12Z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0x0101006F93058C49D50A4BBDFBF11EB30703B5</vt:lpwstr>
  </property>
</Properties>
</file>